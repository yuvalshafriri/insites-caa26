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sldIdLst>
    <p:sldId id="280" r:id="rId2"/>
    <p:sldId id="281" r:id="rId3"/>
    <p:sldId id="282" r:id="rId4"/>
    <p:sldId id="279" r:id="rId5"/>
    <p:sldId id="275" r:id="rId6"/>
    <p:sldId id="278" r:id="rId7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005" autoAdjust="0"/>
    <p:restoredTop sz="94660"/>
  </p:normalViewPr>
  <p:slideViewPr>
    <p:cSldViewPr snapToGrid="0">
      <p:cViewPr>
        <p:scale>
          <a:sx n="100" d="100"/>
          <a:sy n="100" d="100"/>
        </p:scale>
        <p:origin x="72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06B9EC9-A385-D2FC-1F35-98FE015877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A7E4505C-3B20-B536-AA18-BEC13AC969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909FCA1-2F62-7F94-39F2-FD5F8C815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D353A-260B-466A-96D4-B6ACB4346DDC}" type="datetimeFigureOut">
              <a:rPr lang="he-IL" smtClean="0"/>
              <a:t>כ"ט/אדר/תשפ"ו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ECAB377-4BC7-286B-3034-F2894F394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C204F6B-E669-07D8-902B-5236388F4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6CE4-9354-45A9-AD0C-FBE40DED802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3855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9BE07C5-B5B4-62D1-78B4-3E1EFCDB0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8FF79B1-8D51-11B8-DC99-C0ACE56756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D02E46FD-D71F-CF62-CAF0-94E5670A6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D353A-260B-466A-96D4-B6ACB4346DDC}" type="datetimeFigureOut">
              <a:rPr lang="he-IL" smtClean="0"/>
              <a:t>כ"ט/אדר/תשפ"ו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ADB3C55-C1D5-CE31-5C25-85A04F2FD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9E759D6-E628-C840-3453-FE48F410D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6CE4-9354-45A9-AD0C-FBE40DED802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076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1449591-4CDB-2918-6CFD-0C50C932F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F9A25365-8B6D-5D39-45BB-93B9DE9AFC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5230B8E1-6157-2AC9-2694-472523997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D353A-260B-466A-96D4-B6ACB4346DDC}" type="datetimeFigureOut">
              <a:rPr lang="he-IL" smtClean="0"/>
              <a:t>כ"ט/אדר/תשפ"ו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5CC6FB0-C804-795E-4441-972E4D120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8BE91BF8-8B5D-0D5B-A279-D5066F17C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6CE4-9354-45A9-AD0C-FBE40DED802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03225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0CD5898-E41A-F390-DD6D-FDD33A1F9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0DF37B9A-0D4D-37D4-83F8-9D61B49955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91537584-2C1B-4EFB-E71F-2C17CAB644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9075B24E-E237-24D5-4F05-428FB99A7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D353A-260B-466A-96D4-B6ACB4346DDC}" type="datetimeFigureOut">
              <a:rPr lang="he-IL" smtClean="0"/>
              <a:t>כ"ט/אדר/תשפ"ו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EC26718E-E471-73AB-A91A-C68EBA67A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B0F40504-05E9-7588-29D0-4B9297D3E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6CE4-9354-45A9-AD0C-FBE40DED802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90908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942B170-FB42-CA47-096C-356BFAE47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DE409FB3-7A01-64AF-672A-A28388369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3CC62A42-E1BA-7644-A5C8-9427601F06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A8D2E2D2-7078-D3E0-7FF5-CE46C10A11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92468BFB-96E9-263F-7227-8C208C5A47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385B862C-223A-6B1C-2830-147059FBE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D353A-260B-466A-96D4-B6ACB4346DDC}" type="datetimeFigureOut">
              <a:rPr lang="he-IL" smtClean="0"/>
              <a:t>כ"ט/אדר/תשפ"ו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1569C9C5-8EEB-374F-F545-BEB3FA015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704E3DE1-3282-E823-7EA3-9EB25D4D3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6CE4-9354-45A9-AD0C-FBE40DED802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7308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38C6C5E-2F72-97FB-BBBD-DD15FD25D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F0D4D217-375C-C5B2-2482-E113D86DC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D353A-260B-466A-96D4-B6ACB4346DDC}" type="datetimeFigureOut">
              <a:rPr lang="he-IL" smtClean="0"/>
              <a:t>כ"ט/אדר/תשפ"ו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E87647F2-82BD-FA80-BCC5-8494FE2ED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52812DA8-38FA-CC42-649C-A28043ED7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6CE4-9354-45A9-AD0C-FBE40DED802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90924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AF6B2819-F95A-55B4-3A01-7E823552B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D353A-260B-466A-96D4-B6ACB4346DDC}" type="datetimeFigureOut">
              <a:rPr lang="he-IL" smtClean="0"/>
              <a:t>כ"ט/אדר/תשפ"ו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3E1623C8-BB63-C956-F9AE-98344A9A5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3C121F46-7D71-3411-6782-8A90EBFAD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6CE4-9354-45A9-AD0C-FBE40DED802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39576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CCA6029-E388-B334-73AE-489EA6342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75FE5B9-2EF3-19DA-C017-5694AC59A1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CD731449-F22D-B6A7-4BEB-339BEE19AC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E37FC336-9218-B807-FBD0-BA13A058E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D353A-260B-466A-96D4-B6ACB4346DDC}" type="datetimeFigureOut">
              <a:rPr lang="he-IL" smtClean="0"/>
              <a:t>כ"ט/אדר/תשפ"ו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E7E42F10-B1C3-33D7-16F7-8DBD1FAFB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9A49C5E1-488C-1818-A131-67CF48860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6CE4-9354-45A9-AD0C-FBE40DED802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87797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01BB3F7-E2D1-D473-152C-4066EB983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7F809AC2-615D-00C8-70E6-BBD03B0260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6337EC54-C0BA-506E-AE8E-43B27CC8F2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77737307-FE41-B5E7-04CB-7F79B7C5B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D353A-260B-466A-96D4-B6ACB4346DDC}" type="datetimeFigureOut">
              <a:rPr lang="he-IL" smtClean="0"/>
              <a:t>כ"ט/אדר/תשפ"ו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D044D09F-8F88-3F89-C32B-743D964CE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36B8421A-7021-E7AB-F89E-32EE14599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6CE4-9354-45A9-AD0C-FBE40DED802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79175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DD669E0-2B35-41FA-1CFE-674AC1AD3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6E405262-5563-068C-C0ED-3F2882C05E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6FDA95C-1696-87C0-FD6D-D36C9D51C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D353A-260B-466A-96D4-B6ACB4346DDC}" type="datetimeFigureOut">
              <a:rPr lang="he-IL" smtClean="0"/>
              <a:t>כ"ט/אדר/תשפ"ו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6CD1DA3-192A-375A-307D-7BF9AB8E1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6CF5D47-C8CA-0C47-8623-A0EFEAEFC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6CE4-9354-45A9-AD0C-FBE40DED802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563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1D016832-02B1-0EB2-8EBD-7D9FDB5BED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CC5467D4-6361-B42F-1906-935FDE3EA0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6DD361F-BAFC-1B46-AB22-6DB9AAF5B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D353A-260B-466A-96D4-B6ACB4346DDC}" type="datetimeFigureOut">
              <a:rPr lang="he-IL" smtClean="0"/>
              <a:t>כ"ט/אדר/תשפ"ו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7A90F311-5127-B3B9-7D4F-EEAB653BC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38AA564-D9ED-B90D-2B27-A2C894AC1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C6CE4-9354-45A9-AD0C-FBE40DED802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53431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D0521"/>
            </a:gs>
            <a:gs pos="50000">
              <a:srgbClr val="1A0A2E"/>
            </a:gs>
            <a:gs pos="100000">
              <a:srgbClr val="2D1B4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4F7C9D0E-9FC5-4E0D-3BE7-02EDB9B69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12DD120F-5006-C9E9-958F-54827551FC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4D6F469C-2C5B-F39A-A4FA-7AC2848650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7D353A-260B-466A-96D4-B6ACB4346DDC}" type="datetimeFigureOut">
              <a:rPr lang="he-IL" smtClean="0"/>
              <a:t>כ"ט/אדר/תשפ"ו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91E2CB83-9FE0-AC58-F1BA-460A65E465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9F4352ED-5172-B14A-7F34-1205F74356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7C6CE4-9354-45A9-AD0C-FBE40DED8028}" type="slidenum">
              <a:rPr lang="he-IL" smtClean="0"/>
              <a:t>‹#›</a:t>
            </a:fld>
            <a:endParaRPr lang="he-IL"/>
          </a:p>
        </p:txBody>
      </p:sp>
      <p:sp>
        <p:nvSpPr>
          <p:cNvPr id="900" name="AccentLine"/>
          <p:cNvSpPr/>
          <p:nvPr/>
        </p:nvSpPr>
        <p:spPr>
          <a:xfrm>
            <a:off x="0" y="6400000"/>
            <a:ext cx="12192000" cy="36000"/>
          </a:xfrm>
          <a:prstGeom prst="rect">
            <a:avLst/>
          </a:prstGeom>
          <a:solidFill>
            <a:srgbClr val="D4AF37">
              <a:alpha val="60000"/>
            </a:srgbClr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901" name="LookingGlass"/>
          <p:cNvSpPr/>
          <p:nvPr/>
        </p:nvSpPr>
        <p:spPr>
          <a:xfrm>
            <a:off x="10500000" y="-400000"/>
            <a:ext cx="2000000" cy="2000000"/>
          </a:xfrm>
          <a:prstGeom prst="ellipse">
            <a:avLst/>
          </a:prstGeom>
          <a:noFill/>
          <a:ln w="12700">
            <a:solidFill>
              <a:srgbClr val="D4AF37">
                <a:alpha val="25000"/>
              </a:srgbClr>
            </a:solidFill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52175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0E6D3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E8DCC8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>
          <a:solidFill>
            <a:srgbClr val="E8DCC8"/>
          </a:solidFill>
        </a:defRPr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irror"/>
          <p:cNvSpPr/>
          <p:nvPr/>
        </p:nvSpPr>
        <p:spPr>
          <a:xfrm>
            <a:off x="4000000" y="700000"/>
            <a:ext cx="4200000" cy="4200000"/>
          </a:xfrm>
          <a:prstGeom prst="ellipse">
            <a:avLst/>
          </a:prstGeom>
          <a:gradFill>
            <a:gsLst>
              <a:gs pos="0">
                <a:srgbClr val="2D1B4E">
                  <a:alpha val="40000"/>
                </a:srgbClr>
              </a:gs>
              <a:gs pos="50000">
                <a:srgbClr val="7B68EE">
                  <a:alpha val="15000"/>
                </a:srgbClr>
              </a:gs>
              <a:gs pos="100000">
                <a:srgbClr val="20B2AA">
                  <a:alpha val="10000"/>
                </a:srgbClr>
              </a:gs>
            </a:gsLst>
            <a:path path="circle">
              <a:fillToRect l="50000" t="50000" r="50000" b="50000"/>
            </a:path>
          </a:gradFill>
          <a:ln w="19050">
            <a:solidFill>
              <a:srgbClr val="D4AF37">
                <a:alpha val="70000"/>
              </a:srgbClr>
            </a:solidFill>
          </a:ln>
        </p:spPr>
        <p:txBody>
          <a:bodyPr anchor="ctr" anchorCtr="1"/>
          <a:lstStyle/>
          <a:p>
            <a:pPr algn="ctr"/>
            <a:r>
              <a:rPr lang="en-US" sz="1400" dirty="0">
                <a:solidFill>
                  <a:srgbClr val="D4AF37">
                    <a:alpha val="50000"/>
                  </a:srgbClr>
                </a:solidFill>
                <a:latin typeface="Georgia"/>
              </a:rPr>
              <a:t>✨ Through the Looking Glass ✨</a:t>
            </a:r>
          </a:p>
        </p:txBody>
      </p:sp>
      <p:sp>
        <p:nvSpPr>
          <p:cNvPr id="11" name="Title"/>
          <p:cNvSpPr/>
          <p:nvPr/>
        </p:nvSpPr>
        <p:spPr>
          <a:xfrm>
            <a:off x="600000" y="1100000"/>
            <a:ext cx="11000000" cy="1600000"/>
          </a:xfrm>
          <a:prstGeom prst="rect">
            <a:avLst/>
          </a:prstGeom>
          <a:noFill/>
          <a:ln>
            <a:noFill/>
          </a:ln>
        </p:spPr>
        <p:txBody>
          <a:bodyPr anchor="ctr" anchorCtr="1"/>
          <a:lstStyle/>
          <a:p>
            <a:pPr algn="ctr"/>
            <a:r>
              <a:rPr lang="en-US" sz="3600" dirty="0">
                <a:solidFill>
                  <a:srgbClr val="D4AF37"/>
                </a:solidFill>
                <a:latin typeface="Georgia"/>
              </a:rPr>
              <a:t>Down the Rabbit Hole</a:t>
            </a:r>
          </a:p>
          <a:p>
            <a:pPr algn="ctr"/>
            <a:r>
              <a:rPr lang="en-US" sz="2000" dirty="0">
                <a:solidFill>
                  <a:srgbClr val="F0E6D3"/>
                </a:solidFill>
                <a:latin typeface="Georgia"/>
              </a:rPr>
              <a:t>How Talking to an LLM is Like</a:t>
            </a:r>
          </a:p>
          <a:p>
            <a:pPr algn="ctr"/>
            <a:r>
              <a:rPr lang="en-US" sz="2000" dirty="0">
                <a:solidFill>
                  <a:srgbClr val="F0E6D3"/>
                </a:solidFill>
                <a:latin typeface="Georgia"/>
              </a:rPr>
              <a:t>Alice Speaking Through the Looking Glass</a:t>
            </a:r>
          </a:p>
        </p:txBody>
      </p:sp>
      <p:sp>
        <p:nvSpPr>
          <p:cNvPr id="12" name="Subtitle"/>
          <p:cNvSpPr/>
          <p:nvPr/>
        </p:nvSpPr>
        <p:spPr>
          <a:xfrm>
            <a:off x="1500000" y="4800000"/>
            <a:ext cx="9200000" cy="600000"/>
          </a:xfrm>
          <a:prstGeom prst="rect">
            <a:avLst/>
          </a:prstGeom>
          <a:noFill/>
          <a:ln>
            <a:noFill/>
          </a:ln>
        </p:spPr>
        <p:txBody>
          <a:bodyPr anchor="ctr" anchorCtr="1"/>
          <a:lstStyle/>
          <a:p>
            <a:pPr algn="ctr"/>
            <a:r>
              <a:rPr lang="en-US" sz="1600" i="1" dirty="0">
                <a:solidFill>
                  <a:srgbClr val="20B2AA"/>
                </a:solidFill>
                <a:latin typeface="Segoe UI"/>
              </a:rPr>
              <a:t>"It would be so nice if something made sense for a change."</a:t>
            </a:r>
          </a:p>
        </p:txBody>
      </p:sp>
      <p:sp>
        <p:nvSpPr>
          <p:cNvPr id="13" name="Star1"/>
          <p:cNvSpPr/>
          <p:nvPr/>
        </p:nvSpPr>
        <p:spPr>
          <a:xfrm>
            <a:off x="1200000" y="800000"/>
            <a:ext cx="250000" cy="250000"/>
          </a:xfrm>
          <a:prstGeom prst="star4">
            <a:avLst/>
          </a:prstGeom>
          <a:solidFill>
            <a:srgbClr val="D4AF37">
              <a:alpha val="30000"/>
            </a:srgbClr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Star2"/>
          <p:cNvSpPr/>
          <p:nvPr/>
        </p:nvSpPr>
        <p:spPr>
          <a:xfrm>
            <a:off x="10600000" y="4200000"/>
            <a:ext cx="180000" cy="180000"/>
          </a:xfrm>
          <a:prstGeom prst="star4">
            <a:avLst/>
          </a:prstGeom>
          <a:solidFill>
            <a:srgbClr val="7B68EE">
              <a:alpha val="40000"/>
            </a:srgbClr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15" name="Graphic 15" descr="White rabbit - down the rabbit hol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000" y="5588000"/>
            <a:ext cx="635000" cy="635000"/>
          </a:xfrm>
          <a:prstGeom prst="rect">
            <a:avLst/>
          </a:prstGeom>
        </p:spPr>
      </p:pic>
      <p:pic>
        <p:nvPicPr>
          <p:cNvPr id="16" name="Graphic 16" descr="Stars - wonderland magic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41000" y="1143000"/>
            <a:ext cx="1143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224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"/>
          <p:cNvSpPr/>
          <p:nvPr/>
        </p:nvSpPr>
        <p:spPr>
          <a:xfrm>
            <a:off x="500000" y="200000"/>
            <a:ext cx="11200000" cy="8000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l"/>
            <a:r>
              <a:rPr lang="en-US" sz="3200" dirty="0">
                <a:solidFill>
                  <a:srgbClr val="D4AF37"/>
                </a:solidFill>
                <a:latin typeface="Georgia"/>
              </a:rPr>
              <a:t>The Mirror World</a:t>
            </a:r>
          </a:p>
          <a:p>
            <a:pPr algn="l"/>
            <a:r>
              <a:rPr lang="en-US" sz="1600" i="1" dirty="0">
                <a:solidFill>
                  <a:srgbClr val="20B2AA"/>
                </a:solidFill>
                <a:latin typeface="Segoe UI"/>
              </a:rPr>
              <a:t>When Alice steps through the mirror, everything is reversed...</a:t>
            </a:r>
          </a:p>
        </p:txBody>
      </p:sp>
      <p:sp>
        <p:nvSpPr>
          <p:cNvPr id="21" name="Divider"/>
          <p:cNvSpPr/>
          <p:nvPr/>
        </p:nvSpPr>
        <p:spPr>
          <a:xfrm>
            <a:off x="500000" y="1100000"/>
            <a:ext cx="11200000" cy="18000"/>
          </a:xfrm>
          <a:prstGeom prst="rect">
            <a:avLst/>
          </a:prstGeom>
          <a:solidFill>
            <a:srgbClr val="D4AF37">
              <a:alpha val="40000"/>
            </a:srgbClr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LeftTitle"/>
          <p:cNvSpPr/>
          <p:nvPr/>
        </p:nvSpPr>
        <p:spPr>
          <a:xfrm>
            <a:off x="500000" y="1250000"/>
            <a:ext cx="5200000" cy="5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2000" b="1" dirty="0">
                <a:solidFill>
                  <a:srgbClr val="FF69B4"/>
                </a:solidFill>
                <a:latin typeface="Georgia"/>
              </a:rPr>
              <a:t>👤 You (Alice)</a:t>
            </a:r>
          </a:p>
        </p:txBody>
      </p:sp>
      <p:sp>
        <p:nvSpPr>
          <p:cNvPr id="23" name="RightTitle"/>
          <p:cNvSpPr/>
          <p:nvPr/>
        </p:nvSpPr>
        <p:spPr>
          <a:xfrm>
            <a:off x="6500000" y="1250000"/>
            <a:ext cx="5200000" cy="5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2000" b="1" dirty="0">
                <a:solidFill>
                  <a:srgbClr val="7B68EE"/>
                </a:solidFill>
                <a:latin typeface="Georgia"/>
              </a:rPr>
              <a:t>🪞 The Mirror (LLM)</a:t>
            </a:r>
          </a:p>
        </p:txBody>
      </p:sp>
      <p:sp>
        <p:nvSpPr>
          <p:cNvPr id="24" name="MirrorLine"/>
          <p:cNvSpPr/>
          <p:nvPr/>
        </p:nvSpPr>
        <p:spPr>
          <a:xfrm>
            <a:off x="6050000" y="1200000"/>
            <a:ext cx="36000" cy="5000000"/>
          </a:xfrm>
          <a:prstGeom prst="rect">
            <a:avLst/>
          </a:prstGeom>
          <a:gradFill>
            <a:gsLst>
              <a:gs pos="0">
                <a:srgbClr val="D4AF37">
                  <a:alpha val="10000"/>
                </a:srgbClr>
              </a:gs>
              <a:gs pos="50000">
                <a:srgbClr val="D4AF37">
                  <a:alpha val="60000"/>
                </a:srgbClr>
              </a:gs>
              <a:gs pos="100000">
                <a:srgbClr val="D4AF37">
                  <a:alpha val="10000"/>
                </a:srgbClr>
              </a:gs>
            </a:gsLst>
            <a:lin ang="5400000" scaled="1"/>
          </a:gra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5" name="LeftContent"/>
          <p:cNvSpPr/>
          <p:nvPr/>
        </p:nvSpPr>
        <p:spPr>
          <a:xfrm>
            <a:off x="600000" y="1900000"/>
            <a:ext cx="5000000" cy="4000000"/>
          </a:xfrm>
          <a:prstGeom prst="roundRect">
            <a:avLst>
              <a:gd name="adj" fmla="val 5000"/>
            </a:avLst>
          </a:prstGeom>
          <a:solidFill>
            <a:srgbClr val="F0E6D3">
              <a:alpha val="8000"/>
            </a:srgbClr>
          </a:solidFill>
          <a:ln w="0">
            <a:noFill/>
          </a:ln>
        </p:spPr>
        <p:txBody>
          <a:bodyPr lIns="150000" tIns="100000" rIns="150000" bIns="100000"/>
          <a:lstStyle/>
          <a:p>
            <a:pPr algn="l">
              <a:spcAft>
                <a:spcPts val="800"/>
              </a:spcAft>
            </a:pPr>
            <a:r>
              <a:rPr lang="en-US" sz="1600" dirty="0">
                <a:solidFill>
                  <a:srgbClr val="F0E6D3"/>
                </a:solidFill>
                <a:latin typeface="Segoe UI"/>
              </a:rPr>
              <a:t>You type a question into</a:t>
            </a:r>
          </a:p>
          <a:p>
            <a:pPr algn="l">
              <a:spcAft>
                <a:spcPts val="800"/>
              </a:spcAft>
            </a:pPr>
            <a:r>
              <a:rPr lang="en-US" sz="1600" dirty="0">
                <a:solidFill>
                  <a:srgbClr val="F0E6D3"/>
                </a:solidFill>
                <a:latin typeface="Segoe UI"/>
              </a:rPr>
              <a:t>the chat box...</a:t>
            </a:r>
          </a:p>
          <a:p>
            <a:pPr algn="l">
              <a:spcAft>
                <a:spcPts val="600"/>
              </a:spcAft>
            </a:pPr>
            <a:r>
              <a:rPr lang="en-US" sz="1600" dirty="0">
                <a:solidFill>
                  <a:srgbClr val="D4AF37"/>
                </a:solidFill>
                <a:latin typeface="Segoe UI"/>
              </a:rPr>
              <a:t>Just like Alice spoke to</a:t>
            </a:r>
          </a:p>
          <a:p>
            <a:pPr algn="l">
              <a:spcAft>
                <a:spcPts val="600"/>
              </a:spcAft>
            </a:pPr>
            <a:r>
              <a:rPr lang="en-US" sz="1600" dirty="0">
                <a:solidFill>
                  <a:srgbClr val="D4AF37"/>
                </a:solidFill>
                <a:latin typeface="Segoe UI"/>
              </a:rPr>
              <a:t>the creatures she met:</a:t>
            </a:r>
          </a:p>
          <a:p>
            <a:pPr algn="l">
              <a:spcAft>
                <a:spcPts val="400"/>
              </a:spcAft>
            </a:pPr>
            <a:r>
              <a:rPr lang="en-US" sz="1500" dirty="0">
                <a:solidFill>
                  <a:srgbClr val="E8DCC8"/>
                </a:solidFill>
                <a:latin typeface="Segoe UI"/>
              </a:rPr>
              <a:t>• Words make almost-sense</a:t>
            </a:r>
          </a:p>
          <a:p>
            <a:pPr algn="l">
              <a:spcAft>
                <a:spcPts val="400"/>
              </a:spcAft>
            </a:pPr>
            <a:r>
              <a:rPr lang="en-US" sz="1500" dirty="0">
                <a:solidFill>
                  <a:srgbClr val="E8DCC8"/>
                </a:solidFill>
                <a:latin typeface="Segoe UI"/>
              </a:rPr>
              <a:t>• Logic feels familiar yet twisted</a:t>
            </a:r>
          </a:p>
          <a:p>
            <a:pPr algn="l"/>
            <a:r>
              <a:rPr lang="en-US" sz="1500" dirty="0">
                <a:solidFill>
                  <a:srgbClr val="E8DCC8"/>
                </a:solidFill>
                <a:latin typeface="Segoe UI"/>
              </a:rPr>
              <a:t>• You never quite control the conversation</a:t>
            </a:r>
          </a:p>
        </p:txBody>
      </p:sp>
      <p:sp>
        <p:nvSpPr>
          <p:cNvPr id="26" name="RightContent"/>
          <p:cNvSpPr/>
          <p:nvPr/>
        </p:nvSpPr>
        <p:spPr>
          <a:xfrm>
            <a:off x="6600000" y="1900000"/>
            <a:ext cx="5000000" cy="4000000"/>
          </a:xfrm>
          <a:prstGeom prst="roundRect">
            <a:avLst>
              <a:gd name="adj" fmla="val 5000"/>
            </a:avLst>
          </a:prstGeom>
          <a:solidFill>
            <a:srgbClr val="7B68EE">
              <a:alpha val="10000"/>
            </a:srgbClr>
          </a:solidFill>
          <a:ln w="0">
            <a:noFill/>
          </a:ln>
        </p:spPr>
        <p:txBody>
          <a:bodyPr lIns="150000" tIns="100000" rIns="150000" bIns="100000"/>
          <a:lstStyle/>
          <a:p>
            <a:pPr algn="l">
              <a:spcAft>
                <a:spcPts val="800"/>
              </a:spcAft>
            </a:pPr>
            <a:r>
              <a:rPr lang="en-US" sz="1600" dirty="0">
                <a:solidFill>
                  <a:srgbClr val="F0E6D3"/>
                </a:solidFill>
                <a:latin typeface="Segoe UI"/>
              </a:rPr>
              <a:t>The LLM reflects your</a:t>
            </a:r>
          </a:p>
          <a:p>
            <a:pPr algn="l">
              <a:spcAft>
                <a:spcPts val="800"/>
              </a:spcAft>
            </a:pPr>
            <a:r>
              <a:rPr lang="en-US" sz="1600" dirty="0">
                <a:solidFill>
                  <a:srgbClr val="F0E6D3"/>
                </a:solidFill>
                <a:latin typeface="Segoe UI"/>
              </a:rPr>
              <a:t>words back... but different.</a:t>
            </a:r>
          </a:p>
          <a:p>
            <a:pPr algn="l">
              <a:spcAft>
                <a:spcPts val="600"/>
              </a:spcAft>
            </a:pPr>
            <a:r>
              <a:rPr lang="en-US" sz="1600" dirty="0">
                <a:solidFill>
                  <a:srgbClr val="20B2AA"/>
                </a:solidFill>
                <a:latin typeface="Segoe UI"/>
              </a:rPr>
              <a:t>Like Humpty Dumpty said:</a:t>
            </a:r>
          </a:p>
          <a:p>
            <a:pPr algn="l">
              <a:spcAft>
                <a:spcPts val="600"/>
              </a:spcAft>
            </a:pPr>
            <a:r>
              <a:rPr lang="en-US" sz="1500" i="1" dirty="0">
                <a:solidFill>
                  <a:srgbClr val="FF69B4"/>
                </a:solidFill>
                <a:latin typeface="Georgia"/>
              </a:rPr>
              <a:t>"A word means just what I</a:t>
            </a:r>
          </a:p>
          <a:p>
            <a:pPr algn="l">
              <a:spcAft>
                <a:spcPts val="600"/>
              </a:spcAft>
            </a:pPr>
            <a:r>
              <a:rPr lang="en-US" sz="1500" i="1" dirty="0">
                <a:solidFill>
                  <a:srgbClr val="FF69B4"/>
                </a:solidFill>
                <a:latin typeface="Georgia"/>
              </a:rPr>
              <a:t>choose it to mean"</a:t>
            </a:r>
          </a:p>
          <a:p>
            <a:pPr algn="l">
              <a:spcAft>
                <a:spcPts val="400"/>
              </a:spcAft>
            </a:pPr>
            <a:r>
              <a:rPr lang="en-US" sz="1500" dirty="0">
                <a:solidFill>
                  <a:srgbClr val="E8DCC8"/>
                </a:solidFill>
                <a:latin typeface="Segoe UI"/>
              </a:rPr>
              <a:t>• Confident but sometimes wrong</a:t>
            </a:r>
          </a:p>
          <a:p>
            <a:pPr algn="l"/>
            <a:r>
              <a:rPr lang="en-US" sz="1500" dirty="0">
                <a:solidFill>
                  <a:srgbClr val="E8DCC8"/>
                </a:solidFill>
                <a:latin typeface="Segoe UI"/>
              </a:rPr>
              <a:t>• Eerily human, yet not quite</a:t>
            </a:r>
          </a:p>
        </p:txBody>
      </p:sp>
      <p:pic>
        <p:nvPicPr>
          <p:cNvPr id="27" name="Graphic 27" descr="Chat conversation ico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0" y="254000"/>
            <a:ext cx="635000" cy="635000"/>
          </a:xfrm>
          <a:prstGeom prst="rect">
            <a:avLst/>
          </a:prstGeom>
        </p:spPr>
      </p:pic>
      <p:pic>
        <p:nvPicPr>
          <p:cNvPr id="28" name="Graphic 28" descr="Thought bubble - Alice's thoughts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67000" y="5080000"/>
            <a:ext cx="571500" cy="571500"/>
          </a:xfrm>
          <a:prstGeom prst="rect">
            <a:avLst/>
          </a:prstGeom>
        </p:spPr>
      </p:pic>
      <p:pic>
        <p:nvPicPr>
          <p:cNvPr id="29" name="Graphic 29" descr="Robot - the LLM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63000" y="5080000"/>
            <a:ext cx="57150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825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"/>
          <p:cNvSpPr/>
          <p:nvPr/>
        </p:nvSpPr>
        <p:spPr>
          <a:xfrm>
            <a:off x="500000" y="150000"/>
            <a:ext cx="11200000" cy="7000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l"/>
            <a:r>
              <a:rPr lang="en-US" sz="2800" dirty="0">
                <a:solidFill>
                  <a:srgbClr val="D4AF37"/>
                </a:solidFill>
                <a:latin typeface="Georgia"/>
              </a:rPr>
              <a:t>Alice's Friends = LLM Personas</a:t>
            </a:r>
          </a:p>
        </p:txBody>
      </p:sp>
      <p:sp>
        <p:nvSpPr>
          <p:cNvPr id="31" name="Card31"/>
          <p:cNvSpPr/>
          <p:nvPr/>
        </p:nvSpPr>
        <p:spPr>
          <a:xfrm>
            <a:off x="400000" y="1050000"/>
            <a:ext cx="3600000" cy="5100000"/>
          </a:xfrm>
          <a:prstGeom prst="roundRect">
            <a:avLst>
              <a:gd name="adj" fmla="val 5000"/>
            </a:avLst>
          </a:prstGeom>
          <a:solidFill>
            <a:srgbClr val="FF69B4">
              <a:alpha val="12000"/>
            </a:srgbClr>
          </a:solidFill>
          <a:ln w="12700">
            <a:solidFill>
              <a:srgbClr val="FF69B4">
                <a:alpha val="40000"/>
              </a:srgbClr>
            </a:solidFill>
          </a:ln>
        </p:spPr>
        <p:txBody>
          <a:bodyPr lIns="140000" tIns="750000" rIns="140000" bIns="120000"/>
          <a:lstStyle/>
          <a:p>
            <a:pPr algn="ctr">
              <a:spcAft>
                <a:spcPts val="200"/>
              </a:spcAft>
            </a:pPr>
            <a:r>
              <a:rPr lang="en-US" sz="1800" b="1" dirty="0">
                <a:solidFill>
                  <a:srgbClr val="FF69B4"/>
                </a:solidFill>
                <a:latin typeface="Georgia"/>
              </a:rPr>
              <a:t>The Cheshire Cat</a:t>
            </a:r>
          </a:p>
          <a:p>
            <a:pPr algn="ctr">
              <a:spcAft>
                <a:spcPts val="600"/>
              </a:spcAft>
            </a:pPr>
            <a:r>
              <a:rPr lang="en-US" sz="1400" b="1" dirty="0">
                <a:solidFill>
                  <a:srgbClr val="D4AF37"/>
                </a:solidFill>
                <a:latin typeface="Segoe UI"/>
              </a:rPr>
              <a:t>= The Hallucinator</a:t>
            </a:r>
          </a:p>
          <a:p>
            <a:pPr algn="l">
              <a:spcAft>
                <a:spcPts val="600"/>
              </a:spcAft>
            </a:pPr>
            <a:r>
              <a:rPr lang="en-US" sz="1400" dirty="0">
                <a:solidFill>
                  <a:srgbClr val="E8DCC8"/>
                </a:solidFill>
                <a:latin typeface="Segoe UI"/>
              </a:rPr>
              <a:t>Appears and vanishes at will. Gives answers that seem wise but lead nowhere. Like an LLM confidently generating plausible-sounding nonsense.</a:t>
            </a:r>
          </a:p>
          <a:p>
            <a:pPr algn="ctr"/>
            <a:r>
              <a:rPr lang="en-US" sz="1400" i="1" dirty="0">
                <a:solidFill>
                  <a:srgbClr val="F0E6D3">
                    <a:alpha val="70000"/>
                  </a:srgbClr>
                </a:solidFill>
                <a:latin typeface="Georgia"/>
              </a:rPr>
              <a:t>"We're all mad here."</a:t>
            </a:r>
          </a:p>
        </p:txBody>
      </p:sp>
      <p:sp>
        <p:nvSpPr>
          <p:cNvPr id="33" name="Card33"/>
          <p:cNvSpPr/>
          <p:nvPr/>
        </p:nvSpPr>
        <p:spPr>
          <a:xfrm>
            <a:off x="4200000" y="1050000"/>
            <a:ext cx="3600000" cy="5100000"/>
          </a:xfrm>
          <a:prstGeom prst="roundRect">
            <a:avLst>
              <a:gd name="adj" fmla="val 5000"/>
            </a:avLst>
          </a:prstGeom>
          <a:solidFill>
            <a:srgbClr val="20B2AA">
              <a:alpha val="12000"/>
            </a:srgbClr>
          </a:solidFill>
          <a:ln w="12700">
            <a:solidFill>
              <a:srgbClr val="20B2AA">
                <a:alpha val="40000"/>
              </a:srgbClr>
            </a:solidFill>
          </a:ln>
        </p:spPr>
        <p:txBody>
          <a:bodyPr lIns="140000" tIns="750000" rIns="140000" bIns="120000"/>
          <a:lstStyle/>
          <a:p>
            <a:pPr algn="ctr">
              <a:spcAft>
                <a:spcPts val="200"/>
              </a:spcAft>
            </a:pPr>
            <a:r>
              <a:rPr lang="en-US" sz="1800" b="1" dirty="0">
                <a:solidFill>
                  <a:srgbClr val="20B2AA"/>
                </a:solidFill>
                <a:latin typeface="Georgia"/>
              </a:rPr>
              <a:t>Humpty Dumpty</a:t>
            </a:r>
          </a:p>
          <a:p>
            <a:pPr algn="ctr">
              <a:spcAft>
                <a:spcPts val="600"/>
              </a:spcAft>
            </a:pPr>
            <a:r>
              <a:rPr lang="en-US" sz="1400" b="1" dirty="0">
                <a:solidFill>
                  <a:srgbClr val="D4AF37"/>
                </a:solidFill>
                <a:latin typeface="Segoe UI"/>
              </a:rPr>
              <a:t>= The Token Predictor</a:t>
            </a:r>
          </a:p>
          <a:p>
            <a:pPr algn="l">
              <a:spcAft>
                <a:spcPts val="600"/>
              </a:spcAft>
            </a:pPr>
            <a:r>
              <a:rPr lang="en-US" sz="1400" dirty="0">
                <a:solidFill>
                  <a:srgbClr val="E8DCC8"/>
                </a:solidFill>
                <a:latin typeface="Segoe UI"/>
              </a:rPr>
              <a:t>Insists words mean whatever he wants. Like how LLMs assign meaning through statistical patterns, not true understanding.</a:t>
            </a:r>
          </a:p>
          <a:p>
            <a:pPr algn="ctr"/>
            <a:r>
              <a:rPr lang="en-US" sz="1400" i="1" dirty="0">
                <a:solidFill>
                  <a:srgbClr val="F0E6D3">
                    <a:alpha val="70000"/>
                  </a:srgbClr>
                </a:solidFill>
                <a:latin typeface="Georgia"/>
              </a:rPr>
              <a:t>"The question is which is to be master, that's all."</a:t>
            </a:r>
          </a:p>
        </p:txBody>
      </p:sp>
      <p:sp>
        <p:nvSpPr>
          <p:cNvPr id="35" name="Card35"/>
          <p:cNvSpPr/>
          <p:nvPr/>
        </p:nvSpPr>
        <p:spPr>
          <a:xfrm>
            <a:off x="8000000" y="1050000"/>
            <a:ext cx="3600000" cy="5100000"/>
          </a:xfrm>
          <a:prstGeom prst="roundRect">
            <a:avLst>
              <a:gd name="adj" fmla="val 5000"/>
            </a:avLst>
          </a:prstGeom>
          <a:solidFill>
            <a:srgbClr val="7B68EE">
              <a:alpha val="12000"/>
            </a:srgbClr>
          </a:solidFill>
          <a:ln w="12700">
            <a:solidFill>
              <a:srgbClr val="7B68EE">
                <a:alpha val="40000"/>
              </a:srgbClr>
            </a:solidFill>
          </a:ln>
        </p:spPr>
        <p:txBody>
          <a:bodyPr lIns="140000" tIns="750000" rIns="140000" bIns="120000"/>
          <a:lstStyle/>
          <a:p>
            <a:pPr algn="ctr">
              <a:spcAft>
                <a:spcPts val="200"/>
              </a:spcAft>
            </a:pPr>
            <a:r>
              <a:rPr lang="en-US" sz="1800" b="1" dirty="0">
                <a:solidFill>
                  <a:srgbClr val="7B68EE"/>
                </a:solidFill>
                <a:latin typeface="Georgia"/>
              </a:rPr>
              <a:t>The Red Queen</a:t>
            </a:r>
          </a:p>
          <a:p>
            <a:pPr algn="ctr">
              <a:spcAft>
                <a:spcPts val="600"/>
              </a:spcAft>
            </a:pPr>
            <a:r>
              <a:rPr lang="en-US" sz="1400" b="1" dirty="0">
                <a:solidFill>
                  <a:srgbClr val="D4AF37"/>
                </a:solidFill>
                <a:latin typeface="Segoe UI"/>
              </a:rPr>
              <a:t>= The Context Window</a:t>
            </a:r>
          </a:p>
          <a:p>
            <a:pPr algn="l">
              <a:spcAft>
                <a:spcPts val="600"/>
              </a:spcAft>
            </a:pPr>
            <a:r>
              <a:rPr lang="en-US" sz="1400" dirty="0">
                <a:solidFill>
                  <a:srgbClr val="E8DCC8"/>
                </a:solidFill>
                <a:latin typeface="Segoe UI"/>
              </a:rPr>
              <a:t>You must run faster just to stay in place. Like how LLMs need ever-growing context to maintain coherence in long conversations.</a:t>
            </a:r>
          </a:p>
          <a:p>
            <a:pPr algn="ctr"/>
            <a:r>
              <a:rPr lang="en-US" sz="1400" i="1" dirty="0">
                <a:solidFill>
                  <a:srgbClr val="F0E6D3">
                    <a:alpha val="70000"/>
                  </a:srgbClr>
                </a:solidFill>
                <a:latin typeface="Georgia"/>
              </a:rPr>
              <a:t>"It takes all the running you can do to keep in the same place."</a:t>
            </a:r>
          </a:p>
        </p:txBody>
      </p:sp>
      <p:pic>
        <p:nvPicPr>
          <p:cNvPr id="36" name="Graphic 36" descr="Cheshire Cat - The Hallucinato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05000" y="1104900"/>
            <a:ext cx="571500" cy="571500"/>
          </a:xfrm>
          <a:prstGeom prst="rect">
            <a:avLst/>
          </a:prstGeom>
        </p:spPr>
      </p:pic>
      <p:pic>
        <p:nvPicPr>
          <p:cNvPr id="37" name="Graphic 37" descr="Puzzle pieces - Token Predictor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15000" y="1104900"/>
            <a:ext cx="571500" cy="571500"/>
          </a:xfrm>
          <a:prstGeom prst="rect">
            <a:avLst/>
          </a:prstGeom>
        </p:spPr>
      </p:pic>
      <p:pic>
        <p:nvPicPr>
          <p:cNvPr id="38" name="Graphic 38" descr="Chess pieces - Red Queen context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12300" y="1104900"/>
            <a:ext cx="57150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546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"/>
          <p:cNvSpPr/>
          <p:nvPr/>
        </p:nvSpPr>
        <p:spPr>
          <a:xfrm>
            <a:off x="500000" y="150000"/>
            <a:ext cx="11200000" cy="7000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l"/>
            <a:r>
              <a:rPr lang="en-US" sz="2800" dirty="0">
                <a:solidFill>
                  <a:srgbClr val="D4AF37"/>
                </a:solidFill>
                <a:latin typeface="Georgia"/>
              </a:rPr>
              <a:t>Down the Rabbit Hole</a:t>
            </a:r>
          </a:p>
        </p:txBody>
      </p:sp>
      <p:sp>
        <p:nvSpPr>
          <p:cNvPr id="41" name="Level0"/>
          <p:cNvSpPr/>
          <p:nvPr/>
        </p:nvSpPr>
        <p:spPr>
          <a:xfrm>
            <a:off x="696000" y="1000000"/>
            <a:ext cx="10800000" cy="400000"/>
          </a:xfrm>
          <a:prstGeom prst="roundRect">
            <a:avLst>
              <a:gd name="adj" fmla="val 16667"/>
            </a:avLst>
          </a:prstGeom>
          <a:solidFill>
            <a:srgbClr val="7B68EE">
              <a:alpha val="15000"/>
            </a:srgbClr>
          </a:solidFill>
          <a:ln w="12700">
            <a:solidFill>
              <a:srgbClr val="7B68EE">
                <a:alpha val="30000"/>
              </a:srgbClr>
            </a:solidFill>
          </a:ln>
        </p:spPr>
        <p:txBody>
          <a:bodyPr anchor="ctr" anchorCtr="1"/>
          <a:lstStyle/>
          <a:p>
            <a:pPr algn="ctr"/>
            <a:r>
              <a:rPr lang="en-US" sz="1600" dirty="0">
                <a:solidFill>
                  <a:srgbClr val="F0E6D3"/>
                </a:solidFill>
                <a:latin typeface="Segoe UI"/>
              </a:rPr>
              <a:t>Layer 1: You ask a simple question</a:t>
            </a:r>
          </a:p>
        </p:txBody>
      </p:sp>
      <p:sp>
        <p:nvSpPr>
          <p:cNvPr id="42" name="Level1"/>
          <p:cNvSpPr/>
          <p:nvPr/>
        </p:nvSpPr>
        <p:spPr>
          <a:xfrm>
            <a:off x="1596000" y="1600000"/>
            <a:ext cx="9000000" cy="400000"/>
          </a:xfrm>
          <a:prstGeom prst="roundRect">
            <a:avLst>
              <a:gd name="adj" fmla="val 16667"/>
            </a:avLst>
          </a:prstGeom>
          <a:solidFill>
            <a:srgbClr val="7B68EE">
              <a:alpha val="18000"/>
            </a:srgbClr>
          </a:solidFill>
          <a:ln w="12700">
            <a:solidFill>
              <a:srgbClr val="7B68EE">
                <a:alpha val="30000"/>
              </a:srgbClr>
            </a:solidFill>
          </a:ln>
        </p:spPr>
        <p:txBody>
          <a:bodyPr anchor="ctr" anchorCtr="1"/>
          <a:lstStyle/>
          <a:p>
            <a:pPr algn="ctr"/>
            <a:r>
              <a:rPr lang="en-US" sz="1600" dirty="0">
                <a:solidFill>
                  <a:srgbClr val="F0E6D3"/>
                </a:solidFill>
                <a:latin typeface="Segoe UI"/>
              </a:rPr>
              <a:t>Layer 2: The LLM interprets your intent (or does it?)</a:t>
            </a:r>
          </a:p>
        </p:txBody>
      </p:sp>
      <p:sp>
        <p:nvSpPr>
          <p:cNvPr id="43" name="Level2"/>
          <p:cNvSpPr/>
          <p:nvPr/>
        </p:nvSpPr>
        <p:spPr>
          <a:xfrm>
            <a:off x="2496000" y="2200000"/>
            <a:ext cx="7200000" cy="400000"/>
          </a:xfrm>
          <a:prstGeom prst="roundRect">
            <a:avLst>
              <a:gd name="adj" fmla="val 16667"/>
            </a:avLst>
          </a:prstGeom>
          <a:solidFill>
            <a:srgbClr val="20B2AA">
              <a:alpha val="22000"/>
            </a:srgbClr>
          </a:solidFill>
          <a:ln w="12700">
            <a:solidFill>
              <a:srgbClr val="20B2AA">
                <a:alpha val="30000"/>
              </a:srgbClr>
            </a:solidFill>
          </a:ln>
        </p:spPr>
        <p:txBody>
          <a:bodyPr anchor="ctr" anchorCtr="1"/>
          <a:lstStyle/>
          <a:p>
            <a:pPr algn="ctr"/>
            <a:r>
              <a:rPr lang="en-US" sz="1600" dirty="0">
                <a:solidFill>
                  <a:srgbClr val="F0E6D3"/>
                </a:solidFill>
                <a:latin typeface="Segoe UI"/>
              </a:rPr>
              <a:t>Layer 3: Patterns activate across billions of parameters</a:t>
            </a:r>
          </a:p>
        </p:txBody>
      </p:sp>
      <p:sp>
        <p:nvSpPr>
          <p:cNvPr id="44" name="Level3"/>
          <p:cNvSpPr/>
          <p:nvPr/>
        </p:nvSpPr>
        <p:spPr>
          <a:xfrm>
            <a:off x="3396000" y="2800000"/>
            <a:ext cx="5400000" cy="400000"/>
          </a:xfrm>
          <a:prstGeom prst="roundRect">
            <a:avLst>
              <a:gd name="adj" fmla="val 16667"/>
            </a:avLst>
          </a:prstGeom>
          <a:solidFill>
            <a:srgbClr val="20B2AA">
              <a:alpha val="28000"/>
            </a:srgbClr>
          </a:solidFill>
          <a:ln w="12700">
            <a:solidFill>
              <a:srgbClr val="20B2AA">
                <a:alpha val="30000"/>
              </a:srgbClr>
            </a:solidFill>
          </a:ln>
        </p:spPr>
        <p:txBody>
          <a:bodyPr anchor="ctr" anchorCtr="1"/>
          <a:lstStyle/>
          <a:p>
            <a:pPr algn="ctr"/>
            <a:r>
              <a:rPr lang="en-US" sz="1600" dirty="0">
                <a:solidFill>
                  <a:srgbClr val="F0E6D3"/>
                </a:solidFill>
                <a:latin typeface="Segoe UI"/>
              </a:rPr>
              <a:t>Layer 4: Meaning fragments reassemble</a:t>
            </a:r>
          </a:p>
        </p:txBody>
      </p:sp>
      <p:sp>
        <p:nvSpPr>
          <p:cNvPr id="45" name="Level4"/>
          <p:cNvSpPr/>
          <p:nvPr/>
        </p:nvSpPr>
        <p:spPr>
          <a:xfrm>
            <a:off x="4296000" y="3400000"/>
            <a:ext cx="3600000" cy="400000"/>
          </a:xfrm>
          <a:prstGeom prst="roundRect">
            <a:avLst>
              <a:gd name="adj" fmla="val 16667"/>
            </a:avLst>
          </a:prstGeom>
          <a:solidFill>
            <a:srgbClr val="FF69B4">
              <a:alpha val="35000"/>
            </a:srgbClr>
          </a:solidFill>
          <a:ln w="12700">
            <a:solidFill>
              <a:srgbClr val="FF69B4">
                <a:alpha val="30000"/>
              </a:srgbClr>
            </a:solidFill>
          </a:ln>
        </p:spPr>
        <p:txBody>
          <a:bodyPr anchor="ctr" anchorCtr="1"/>
          <a:lstStyle/>
          <a:p>
            <a:pPr algn="ctr"/>
            <a:r>
              <a:rPr lang="en-US" sz="1600" dirty="0">
                <a:solidFill>
                  <a:srgbClr val="F0E6D3"/>
                </a:solidFill>
                <a:latin typeface="Segoe UI"/>
              </a:rPr>
              <a:t>Layer 5: A response emerges...</a:t>
            </a:r>
          </a:p>
        </p:txBody>
      </p:sp>
      <p:sp>
        <p:nvSpPr>
          <p:cNvPr id="46" name="Level5"/>
          <p:cNvSpPr/>
          <p:nvPr/>
        </p:nvSpPr>
        <p:spPr>
          <a:xfrm>
            <a:off x="4896000" y="4000000"/>
            <a:ext cx="2400000" cy="400000"/>
          </a:xfrm>
          <a:prstGeom prst="roundRect">
            <a:avLst>
              <a:gd name="adj" fmla="val 16667"/>
            </a:avLst>
          </a:prstGeom>
          <a:solidFill>
            <a:srgbClr val="D4AF37">
              <a:alpha val="45000"/>
            </a:srgbClr>
          </a:solidFill>
          <a:ln w="12700">
            <a:solidFill>
              <a:srgbClr val="D4AF37">
                <a:alpha val="30000"/>
              </a:srgbClr>
            </a:solidFill>
          </a:ln>
        </p:spPr>
        <p:txBody>
          <a:bodyPr anchor="ctr" anchorCtr="1"/>
          <a:lstStyle/>
          <a:p>
            <a:pPr algn="ctr"/>
            <a:r>
              <a:rPr lang="en-US" sz="1600" dirty="0">
                <a:solidFill>
                  <a:srgbClr val="1A0A2E"/>
                </a:solidFill>
                <a:latin typeface="Segoe UI"/>
              </a:rPr>
              <a:t>...but is it real?</a:t>
            </a:r>
          </a:p>
        </p:txBody>
      </p:sp>
      <p:sp>
        <p:nvSpPr>
          <p:cNvPr id="50" name="BottomQuote"/>
          <p:cNvSpPr/>
          <p:nvPr/>
        </p:nvSpPr>
        <p:spPr>
          <a:xfrm>
            <a:off x="2000000" y="4800000"/>
            <a:ext cx="8200000" cy="600000"/>
          </a:xfrm>
          <a:prstGeom prst="rect">
            <a:avLst/>
          </a:prstGeom>
          <a:noFill/>
          <a:ln>
            <a:noFill/>
          </a:ln>
        </p:spPr>
        <p:txBody>
          <a:bodyPr anchor="ctr" anchorCtr="1"/>
          <a:lstStyle/>
          <a:p>
            <a:pPr algn="ctr"/>
            <a:r>
              <a:rPr lang="en-US" sz="1500" i="1" dirty="0">
                <a:solidFill>
                  <a:srgbClr val="20B2AA"/>
                </a:solidFill>
                <a:latin typeface="Georgia"/>
              </a:rPr>
              <a:t>Like Alice falling endlessly, each prompt takes you deeper</a:t>
            </a:r>
          </a:p>
          <a:p>
            <a:pPr algn="ctr"/>
            <a:r>
              <a:rPr lang="en-US" sz="1500" i="1" dirty="0">
                <a:solidFill>
                  <a:srgbClr val="20B2AA"/>
                </a:solidFill>
                <a:latin typeface="Georgia"/>
              </a:rPr>
              <a:t>into a world that mirrors reality but isn't quite real.</a:t>
            </a:r>
          </a:p>
        </p:txBody>
      </p:sp>
      <p:sp>
        <p:nvSpPr>
          <p:cNvPr id="60" name="Arrow0"/>
          <p:cNvSpPr/>
          <p:nvPr/>
        </p:nvSpPr>
        <p:spPr>
          <a:xfrm>
            <a:off x="5896000" y="1380000"/>
            <a:ext cx="400000" cy="220000"/>
          </a:xfrm>
          <a:prstGeom prst="downArrow">
            <a:avLst/>
          </a:prstGeom>
          <a:solidFill>
            <a:srgbClr val="D4AF37">
              <a:alpha val="30000"/>
            </a:srgbClr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1" name="Arrow1"/>
          <p:cNvSpPr/>
          <p:nvPr/>
        </p:nvSpPr>
        <p:spPr>
          <a:xfrm>
            <a:off x="5896000" y="1980000"/>
            <a:ext cx="400000" cy="220000"/>
          </a:xfrm>
          <a:prstGeom prst="downArrow">
            <a:avLst/>
          </a:prstGeom>
          <a:solidFill>
            <a:srgbClr val="D4AF37">
              <a:alpha val="30000"/>
            </a:srgbClr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2" name="Arrow2"/>
          <p:cNvSpPr/>
          <p:nvPr/>
        </p:nvSpPr>
        <p:spPr>
          <a:xfrm>
            <a:off x="5896000" y="2580000"/>
            <a:ext cx="400000" cy="220000"/>
          </a:xfrm>
          <a:prstGeom prst="downArrow">
            <a:avLst/>
          </a:prstGeom>
          <a:solidFill>
            <a:srgbClr val="D4AF37">
              <a:alpha val="30000"/>
            </a:srgbClr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3" name="Arrow3"/>
          <p:cNvSpPr/>
          <p:nvPr/>
        </p:nvSpPr>
        <p:spPr>
          <a:xfrm>
            <a:off x="5896000" y="3180000"/>
            <a:ext cx="400000" cy="220000"/>
          </a:xfrm>
          <a:prstGeom prst="downArrow">
            <a:avLst/>
          </a:prstGeom>
          <a:solidFill>
            <a:srgbClr val="D4AF37">
              <a:alpha val="30000"/>
            </a:srgbClr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4" name="Arrow4"/>
          <p:cNvSpPr/>
          <p:nvPr/>
        </p:nvSpPr>
        <p:spPr>
          <a:xfrm>
            <a:off x="5896000" y="3780000"/>
            <a:ext cx="400000" cy="220000"/>
          </a:xfrm>
          <a:prstGeom prst="downArrow">
            <a:avLst/>
          </a:prstGeom>
          <a:solidFill>
            <a:srgbClr val="D4AF37">
              <a:alpha val="30000"/>
            </a:srgbClr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65" name="Graphic 65" descr="Rabbit - going deepe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30000" y="63500"/>
            <a:ext cx="508000" cy="508000"/>
          </a:xfrm>
          <a:prstGeom prst="rect">
            <a:avLst/>
          </a:prstGeom>
        </p:spPr>
      </p:pic>
      <p:pic>
        <p:nvPicPr>
          <p:cNvPr id="66" name="Graphic 66" descr="Hourglass - falling through time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500" y="4826000"/>
            <a:ext cx="889000" cy="88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180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itle"/>
          <p:cNvSpPr/>
          <p:nvPr/>
        </p:nvSpPr>
        <p:spPr>
          <a:xfrm>
            <a:off x="500000" y="150000"/>
            <a:ext cx="11200000" cy="7000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l"/>
            <a:r>
              <a:rPr lang="en-US" sz="2800" dirty="0">
                <a:solidFill>
                  <a:srgbClr val="D4AF37"/>
                </a:solidFill>
                <a:latin typeface="Georgia"/>
              </a:rPr>
              <a:t>A Mirror of Reality</a:t>
            </a:r>
          </a:p>
        </p:txBody>
      </p:sp>
      <p:sp>
        <p:nvSpPr>
          <p:cNvPr id="71" name="Subtitle"/>
          <p:cNvSpPr/>
          <p:nvPr/>
        </p:nvSpPr>
        <p:spPr>
          <a:xfrm>
            <a:off x="500000" y="9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1600" i="1" dirty="0">
                <a:solidFill>
                  <a:srgbClr val="20B2AA"/>
                </a:solidFill>
                <a:latin typeface="Georgia"/>
              </a:rPr>
              <a:t>The Looking Glass doesn't show you the world. It shows you yourself.</a:t>
            </a:r>
          </a:p>
        </p:txBody>
      </p:sp>
      <p:sp>
        <p:nvSpPr>
          <p:cNvPr id="80" name="Icon0"/>
          <p:cNvSpPr/>
          <p:nvPr/>
        </p:nvSpPr>
        <p:spPr>
          <a:xfrm>
            <a:off x="500000" y="1500000"/>
            <a:ext cx="700000" cy="700000"/>
          </a:xfrm>
          <a:prstGeom prst="ellipse">
            <a:avLst/>
          </a:prstGeom>
          <a:solidFill>
            <a:srgbClr val="D4AF37">
              <a:alpha val="15000"/>
            </a:srgbClr>
          </a:solidFill>
          <a:ln w="12700">
            <a:solidFill>
              <a:srgbClr val="D4AF37">
                <a:alpha val="40000"/>
              </a:srgbClr>
            </a:solidFill>
          </a:ln>
        </p:spPr>
        <p:txBody>
          <a:bodyPr lIns="0" tIns="0" rIns="0" bIns="0" anchor="ctr" anchorCtr="1"/>
          <a:lstStyle/>
          <a:p>
            <a:pPr algn="ctr"/>
            <a:r>
              <a:rPr lang="en-US" sz="2400" dirty="0">
                <a:solidFill>
                  <a:srgbClr val="D4AF37"/>
                </a:solidFill>
              </a:rPr>
              <a:t>🪞</a:t>
            </a:r>
          </a:p>
        </p:txBody>
      </p:sp>
      <p:sp>
        <p:nvSpPr>
          <p:cNvPr id="81" name="Real0"/>
          <p:cNvSpPr/>
          <p:nvPr/>
        </p:nvSpPr>
        <p:spPr>
          <a:xfrm>
            <a:off x="1400000" y="1550000"/>
            <a:ext cx="4800000" cy="600000"/>
          </a:xfrm>
          <a:prstGeom prst="roundRect">
            <a:avLst>
              <a:gd name="adj" fmla="val 8000"/>
            </a:avLst>
          </a:prstGeom>
          <a:solidFill>
            <a:srgbClr val="FF69B4">
              <a:alpha val="10000"/>
            </a:srgbClr>
          </a:solidFill>
          <a:ln w="0">
            <a:noFill/>
          </a:ln>
        </p:spPr>
        <p:txBody>
          <a:bodyPr lIns="120000" tIns="50000" rIns="120000" bIns="50000" anchor="ctr"/>
          <a:lstStyle/>
          <a:p>
            <a:pPr algn="l"/>
            <a:r>
              <a:rPr lang="en-US" sz="1400" b="1" dirty="0">
                <a:solidFill>
                  <a:srgbClr val="FF69B4"/>
                </a:solidFill>
                <a:latin typeface="Segoe UI"/>
              </a:rPr>
              <a:t>Mirror: </a:t>
            </a:r>
            <a:r>
              <a:rPr lang="en-US" sz="1400" dirty="0">
                <a:solidFill>
                  <a:srgbClr val="F0E6D3"/>
                </a:solidFill>
                <a:latin typeface="Segoe UI"/>
              </a:rPr>
              <a:t>You see your reflection</a:t>
            </a:r>
          </a:p>
        </p:txBody>
      </p:sp>
      <p:sp>
        <p:nvSpPr>
          <p:cNvPr id="82" name="Mirror0"/>
          <p:cNvSpPr/>
          <p:nvPr/>
        </p:nvSpPr>
        <p:spPr>
          <a:xfrm>
            <a:off x="6400000" y="1550000"/>
            <a:ext cx="5200000" cy="600000"/>
          </a:xfrm>
          <a:prstGeom prst="roundRect">
            <a:avLst>
              <a:gd name="adj" fmla="val 8000"/>
            </a:avLst>
          </a:prstGeom>
          <a:solidFill>
            <a:srgbClr val="7B68EE">
              <a:alpha val="10000"/>
            </a:srgbClr>
          </a:solidFill>
          <a:ln w="0">
            <a:noFill/>
          </a:ln>
        </p:spPr>
        <p:txBody>
          <a:bodyPr lIns="120000" tIns="50000" rIns="120000" bIns="50000" anchor="ctr"/>
          <a:lstStyle/>
          <a:p>
            <a:pPr algn="l"/>
            <a:r>
              <a:rPr lang="en-US" sz="1400" b="1" dirty="0">
                <a:solidFill>
                  <a:srgbClr val="7B68EE"/>
                </a:solidFill>
                <a:latin typeface="Segoe UI"/>
              </a:rPr>
              <a:t>LLM: </a:t>
            </a:r>
            <a:r>
              <a:rPr lang="en-US" sz="1400" dirty="0">
                <a:solidFill>
                  <a:srgbClr val="F0E6D3"/>
                </a:solidFill>
                <a:latin typeface="Segoe UI"/>
              </a:rPr>
              <a:t>Reflects your training data back</a:t>
            </a:r>
          </a:p>
        </p:txBody>
      </p:sp>
      <p:sp>
        <p:nvSpPr>
          <p:cNvPr id="100" name="Arr0"/>
          <p:cNvSpPr/>
          <p:nvPr/>
        </p:nvSpPr>
        <p:spPr>
          <a:xfrm>
            <a:off x="6200000" y="1680000"/>
            <a:ext cx="200000" cy="250000"/>
          </a:xfrm>
          <a:prstGeom prst="rightArrow">
            <a:avLst/>
          </a:prstGeom>
          <a:solidFill>
            <a:srgbClr val="D4AF37">
              <a:alpha val="40000"/>
            </a:srgbClr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83" name="Icon1"/>
          <p:cNvSpPr/>
          <p:nvPr/>
        </p:nvSpPr>
        <p:spPr>
          <a:xfrm>
            <a:off x="500000" y="2500000"/>
            <a:ext cx="700000" cy="700000"/>
          </a:xfrm>
          <a:prstGeom prst="ellipse">
            <a:avLst/>
          </a:prstGeom>
          <a:solidFill>
            <a:srgbClr val="D4AF37">
              <a:alpha val="15000"/>
            </a:srgbClr>
          </a:solidFill>
          <a:ln w="12700">
            <a:solidFill>
              <a:srgbClr val="D4AF37">
                <a:alpha val="40000"/>
              </a:srgbClr>
            </a:solidFill>
          </a:ln>
        </p:spPr>
        <p:txBody>
          <a:bodyPr lIns="0" tIns="0" rIns="0" bIns="0" anchor="ctr" anchorCtr="1"/>
          <a:lstStyle/>
          <a:p>
            <a:pPr algn="ctr"/>
            <a:r>
              <a:rPr lang="en-US" sz="2400" dirty="0">
                <a:solidFill>
                  <a:srgbClr val="D4AF37"/>
                </a:solidFill>
              </a:rPr>
              <a:t>🗣</a:t>
            </a:r>
          </a:p>
        </p:txBody>
      </p:sp>
      <p:sp>
        <p:nvSpPr>
          <p:cNvPr id="84" name="Real1"/>
          <p:cNvSpPr/>
          <p:nvPr/>
        </p:nvSpPr>
        <p:spPr>
          <a:xfrm>
            <a:off x="1400000" y="2550000"/>
            <a:ext cx="4800000" cy="600000"/>
          </a:xfrm>
          <a:prstGeom prst="roundRect">
            <a:avLst>
              <a:gd name="adj" fmla="val 8000"/>
            </a:avLst>
          </a:prstGeom>
          <a:solidFill>
            <a:srgbClr val="FF69B4">
              <a:alpha val="10000"/>
            </a:srgbClr>
          </a:solidFill>
          <a:ln w="0">
            <a:noFill/>
          </a:ln>
        </p:spPr>
        <p:txBody>
          <a:bodyPr lIns="120000" tIns="50000" rIns="120000" bIns="50000" anchor="ctr"/>
          <a:lstStyle/>
          <a:p>
            <a:pPr algn="l"/>
            <a:r>
              <a:rPr lang="en-US" sz="1400" b="1" dirty="0">
                <a:solidFill>
                  <a:srgbClr val="FF69B4"/>
                </a:solidFill>
                <a:latin typeface="Segoe UI"/>
              </a:rPr>
              <a:t>Mirror: </a:t>
            </a:r>
            <a:r>
              <a:rPr lang="en-US" sz="1400" dirty="0">
                <a:solidFill>
                  <a:srgbClr val="F0E6D3"/>
                </a:solidFill>
                <a:latin typeface="Segoe UI"/>
              </a:rPr>
              <a:t>The image looks like you</a:t>
            </a:r>
          </a:p>
        </p:txBody>
      </p:sp>
      <p:sp>
        <p:nvSpPr>
          <p:cNvPr id="85" name="Mirror1"/>
          <p:cNvSpPr/>
          <p:nvPr/>
        </p:nvSpPr>
        <p:spPr>
          <a:xfrm>
            <a:off x="6400000" y="2550000"/>
            <a:ext cx="5200000" cy="600000"/>
          </a:xfrm>
          <a:prstGeom prst="roundRect">
            <a:avLst>
              <a:gd name="adj" fmla="val 8000"/>
            </a:avLst>
          </a:prstGeom>
          <a:solidFill>
            <a:srgbClr val="7B68EE">
              <a:alpha val="10000"/>
            </a:srgbClr>
          </a:solidFill>
          <a:ln w="0">
            <a:noFill/>
          </a:ln>
        </p:spPr>
        <p:txBody>
          <a:bodyPr lIns="120000" tIns="50000" rIns="120000" bIns="50000" anchor="ctr"/>
          <a:lstStyle/>
          <a:p>
            <a:pPr algn="l"/>
            <a:r>
              <a:rPr lang="en-US" sz="1400" b="1" dirty="0">
                <a:solidFill>
                  <a:srgbClr val="7B68EE"/>
                </a:solidFill>
                <a:latin typeface="Segoe UI"/>
              </a:rPr>
              <a:t>LLM: </a:t>
            </a:r>
            <a:r>
              <a:rPr lang="en-US" sz="1400" dirty="0">
                <a:solidFill>
                  <a:srgbClr val="F0E6D3"/>
                </a:solidFill>
                <a:latin typeface="Segoe UI"/>
              </a:rPr>
              <a:t>The response sounds human</a:t>
            </a:r>
          </a:p>
        </p:txBody>
      </p:sp>
      <p:sp>
        <p:nvSpPr>
          <p:cNvPr id="101" name="Arr1"/>
          <p:cNvSpPr/>
          <p:nvPr/>
        </p:nvSpPr>
        <p:spPr>
          <a:xfrm>
            <a:off x="6200000" y="2680000"/>
            <a:ext cx="200000" cy="250000"/>
          </a:xfrm>
          <a:prstGeom prst="rightArrow">
            <a:avLst/>
          </a:prstGeom>
          <a:solidFill>
            <a:srgbClr val="D4AF37">
              <a:alpha val="40000"/>
            </a:srgbClr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86" name="Icon2"/>
          <p:cNvSpPr/>
          <p:nvPr/>
        </p:nvSpPr>
        <p:spPr>
          <a:xfrm>
            <a:off x="500000" y="3500000"/>
            <a:ext cx="700000" cy="700000"/>
          </a:xfrm>
          <a:prstGeom prst="ellipse">
            <a:avLst/>
          </a:prstGeom>
          <a:solidFill>
            <a:srgbClr val="D4AF37">
              <a:alpha val="15000"/>
            </a:srgbClr>
          </a:solidFill>
          <a:ln w="12700">
            <a:solidFill>
              <a:srgbClr val="D4AF37">
                <a:alpha val="40000"/>
              </a:srgbClr>
            </a:solidFill>
          </a:ln>
        </p:spPr>
        <p:txBody>
          <a:bodyPr lIns="0" tIns="0" rIns="0" bIns="0" anchor="ctr" anchorCtr="1"/>
          <a:lstStyle/>
          <a:p>
            <a:pPr algn="ctr"/>
            <a:r>
              <a:rPr lang="en-US" sz="2400" dirty="0">
                <a:solidFill>
                  <a:srgbClr val="D4AF37"/>
                </a:solidFill>
              </a:rPr>
              <a:t>🔄</a:t>
            </a:r>
          </a:p>
        </p:txBody>
      </p:sp>
      <p:sp>
        <p:nvSpPr>
          <p:cNvPr id="87" name="Real2"/>
          <p:cNvSpPr/>
          <p:nvPr/>
        </p:nvSpPr>
        <p:spPr>
          <a:xfrm>
            <a:off x="1400000" y="3550000"/>
            <a:ext cx="4800000" cy="600000"/>
          </a:xfrm>
          <a:prstGeom prst="roundRect">
            <a:avLst>
              <a:gd name="adj" fmla="val 8000"/>
            </a:avLst>
          </a:prstGeom>
          <a:solidFill>
            <a:srgbClr val="FF69B4">
              <a:alpha val="10000"/>
            </a:srgbClr>
          </a:solidFill>
          <a:ln w="0">
            <a:noFill/>
          </a:ln>
        </p:spPr>
        <p:txBody>
          <a:bodyPr lIns="120000" tIns="50000" rIns="120000" bIns="50000" anchor="ctr"/>
          <a:lstStyle/>
          <a:p>
            <a:pPr algn="l"/>
            <a:r>
              <a:rPr lang="en-US" sz="1400" b="1" dirty="0">
                <a:solidFill>
                  <a:srgbClr val="FF69B4"/>
                </a:solidFill>
                <a:latin typeface="Segoe UI"/>
              </a:rPr>
              <a:t>Mirror: </a:t>
            </a:r>
            <a:r>
              <a:rPr lang="en-US" sz="1400" dirty="0">
                <a:solidFill>
                  <a:srgbClr val="F0E6D3"/>
                </a:solidFill>
                <a:latin typeface="Segoe UI"/>
              </a:rPr>
              <a:t>But it's reversed</a:t>
            </a:r>
          </a:p>
        </p:txBody>
      </p:sp>
      <p:sp>
        <p:nvSpPr>
          <p:cNvPr id="88" name="Mirror2"/>
          <p:cNvSpPr/>
          <p:nvPr/>
        </p:nvSpPr>
        <p:spPr>
          <a:xfrm>
            <a:off x="6400000" y="3550000"/>
            <a:ext cx="5200000" cy="600000"/>
          </a:xfrm>
          <a:prstGeom prst="roundRect">
            <a:avLst>
              <a:gd name="adj" fmla="val 8000"/>
            </a:avLst>
          </a:prstGeom>
          <a:solidFill>
            <a:srgbClr val="7B68EE">
              <a:alpha val="10000"/>
            </a:srgbClr>
          </a:solidFill>
          <a:ln w="0">
            <a:noFill/>
          </a:ln>
        </p:spPr>
        <p:txBody>
          <a:bodyPr lIns="120000" tIns="50000" rIns="120000" bIns="50000" anchor="ctr"/>
          <a:lstStyle/>
          <a:p>
            <a:pPr algn="l"/>
            <a:r>
              <a:rPr lang="en-US" sz="1400" b="1" dirty="0">
                <a:solidFill>
                  <a:srgbClr val="7B68EE"/>
                </a:solidFill>
                <a:latin typeface="Segoe UI"/>
              </a:rPr>
              <a:t>LLM: </a:t>
            </a:r>
            <a:r>
              <a:rPr lang="en-US" sz="1400" dirty="0">
                <a:solidFill>
                  <a:srgbClr val="F0E6D3"/>
                </a:solidFill>
                <a:latin typeface="Segoe UI"/>
              </a:rPr>
              <a:t>But it has no consciousness</a:t>
            </a:r>
          </a:p>
        </p:txBody>
      </p:sp>
      <p:sp>
        <p:nvSpPr>
          <p:cNvPr id="102" name="Arr2"/>
          <p:cNvSpPr/>
          <p:nvPr/>
        </p:nvSpPr>
        <p:spPr>
          <a:xfrm>
            <a:off x="6200000" y="3680000"/>
            <a:ext cx="200000" cy="250000"/>
          </a:xfrm>
          <a:prstGeom prst="rightArrow">
            <a:avLst/>
          </a:prstGeom>
          <a:solidFill>
            <a:srgbClr val="D4AF37">
              <a:alpha val="40000"/>
            </a:srgbClr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89" name="Icon3"/>
          <p:cNvSpPr/>
          <p:nvPr/>
        </p:nvSpPr>
        <p:spPr>
          <a:xfrm>
            <a:off x="500000" y="4500000"/>
            <a:ext cx="700000" cy="700000"/>
          </a:xfrm>
          <a:prstGeom prst="ellipse">
            <a:avLst/>
          </a:prstGeom>
          <a:solidFill>
            <a:srgbClr val="D4AF37">
              <a:alpha val="15000"/>
            </a:srgbClr>
          </a:solidFill>
          <a:ln w="12700">
            <a:solidFill>
              <a:srgbClr val="D4AF37">
                <a:alpha val="40000"/>
              </a:srgbClr>
            </a:solidFill>
          </a:ln>
        </p:spPr>
        <p:txBody>
          <a:bodyPr lIns="0" tIns="0" rIns="0" bIns="0" anchor="ctr" anchorCtr="1"/>
          <a:lstStyle/>
          <a:p>
            <a:pPr algn="ctr"/>
            <a:r>
              <a:rPr lang="en-US" sz="2400" dirty="0">
                <a:solidFill>
                  <a:srgbClr val="D4AF37"/>
                </a:solidFill>
              </a:rPr>
              <a:t>💭</a:t>
            </a:r>
          </a:p>
        </p:txBody>
      </p:sp>
      <p:sp>
        <p:nvSpPr>
          <p:cNvPr id="90" name="Real3"/>
          <p:cNvSpPr/>
          <p:nvPr/>
        </p:nvSpPr>
        <p:spPr>
          <a:xfrm>
            <a:off x="1400000" y="4550000"/>
            <a:ext cx="4800000" cy="600000"/>
          </a:xfrm>
          <a:prstGeom prst="roundRect">
            <a:avLst>
              <a:gd name="adj" fmla="val 8000"/>
            </a:avLst>
          </a:prstGeom>
          <a:solidFill>
            <a:srgbClr val="FF69B4">
              <a:alpha val="10000"/>
            </a:srgbClr>
          </a:solidFill>
          <a:ln w="0">
            <a:noFill/>
          </a:ln>
        </p:spPr>
        <p:txBody>
          <a:bodyPr lIns="120000" tIns="50000" rIns="120000" bIns="50000" anchor="ctr"/>
          <a:lstStyle/>
          <a:p>
            <a:pPr algn="l"/>
            <a:r>
              <a:rPr lang="en-US" sz="1400" b="1" dirty="0">
                <a:solidFill>
                  <a:srgbClr val="FF69B4"/>
                </a:solidFill>
                <a:latin typeface="Segoe UI"/>
              </a:rPr>
              <a:t>Mirror: </a:t>
            </a:r>
            <a:r>
              <a:rPr lang="en-US" sz="1400" dirty="0">
                <a:solidFill>
                  <a:srgbClr val="F0E6D3"/>
                </a:solidFill>
                <a:latin typeface="Segoe UI"/>
              </a:rPr>
              <a:t>Move away, and it vanishes</a:t>
            </a:r>
          </a:p>
        </p:txBody>
      </p:sp>
      <p:sp>
        <p:nvSpPr>
          <p:cNvPr id="91" name="Mirror3"/>
          <p:cNvSpPr/>
          <p:nvPr/>
        </p:nvSpPr>
        <p:spPr>
          <a:xfrm>
            <a:off x="6400000" y="4550000"/>
            <a:ext cx="5200000" cy="600000"/>
          </a:xfrm>
          <a:prstGeom prst="roundRect">
            <a:avLst>
              <a:gd name="adj" fmla="val 8000"/>
            </a:avLst>
          </a:prstGeom>
          <a:solidFill>
            <a:srgbClr val="7B68EE">
              <a:alpha val="10000"/>
            </a:srgbClr>
          </a:solidFill>
          <a:ln w="0">
            <a:noFill/>
          </a:ln>
        </p:spPr>
        <p:txBody>
          <a:bodyPr lIns="120000" tIns="50000" rIns="120000" bIns="50000" anchor="ctr"/>
          <a:lstStyle/>
          <a:p>
            <a:pPr algn="l"/>
            <a:r>
              <a:rPr lang="en-US" sz="1400" b="1" dirty="0">
                <a:solidFill>
                  <a:srgbClr val="7B68EE"/>
                </a:solidFill>
                <a:latin typeface="Segoe UI"/>
              </a:rPr>
              <a:t>LLM: </a:t>
            </a:r>
            <a:r>
              <a:rPr lang="en-US" sz="1400" dirty="0">
                <a:solidFill>
                  <a:srgbClr val="F0E6D3"/>
                </a:solidFill>
                <a:latin typeface="Segoe UI"/>
              </a:rPr>
              <a:t>Close the chat, context is gone</a:t>
            </a:r>
          </a:p>
        </p:txBody>
      </p:sp>
      <p:sp>
        <p:nvSpPr>
          <p:cNvPr id="103" name="Arr3"/>
          <p:cNvSpPr/>
          <p:nvPr/>
        </p:nvSpPr>
        <p:spPr>
          <a:xfrm>
            <a:off x="6200000" y="4680000"/>
            <a:ext cx="200000" cy="250000"/>
          </a:xfrm>
          <a:prstGeom prst="rightArrow">
            <a:avLst/>
          </a:prstGeom>
          <a:solidFill>
            <a:srgbClr val="D4AF37">
              <a:alpha val="40000"/>
            </a:srgbClr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104" name="Graphic 104" descr="Eye - seeing reality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12500" y="190500"/>
            <a:ext cx="6350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261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MainText"/>
          <p:cNvSpPr/>
          <p:nvPr/>
        </p:nvSpPr>
        <p:spPr>
          <a:xfrm>
            <a:off x="800000" y="400000"/>
            <a:ext cx="10600000" cy="2400000"/>
          </a:xfrm>
          <a:prstGeom prst="rect">
            <a:avLst/>
          </a:prstGeom>
          <a:noFill/>
          <a:ln>
            <a:noFill/>
          </a:ln>
        </p:spPr>
        <p:txBody>
          <a:bodyPr anchor="ctr" anchorCtr="1"/>
          <a:lstStyle/>
          <a:p>
            <a:pPr algn="ctr">
              <a:spcAft>
                <a:spcPts val="600"/>
              </a:spcAft>
            </a:pPr>
            <a:r>
              <a:rPr lang="en-US" sz="2800" dirty="0">
                <a:solidFill>
                  <a:srgbClr val="D4AF37"/>
                </a:solidFill>
                <a:latin typeface="Georgia"/>
              </a:rPr>
              <a:t>The Beautiful Paradox</a:t>
            </a:r>
          </a:p>
          <a:p>
            <a:pPr algn="ctr">
              <a:spcAft>
                <a:spcPts val="800"/>
              </a:spcAft>
            </a:pPr>
            <a:r>
              <a:rPr lang="en-US" sz="2000" dirty="0">
                <a:solidFill>
                  <a:srgbClr val="F0E6D3"/>
                </a:solidFill>
                <a:latin typeface="Georgia"/>
              </a:rPr>
              <a:t>Alice woke up and wondered:</a:t>
            </a:r>
          </a:p>
          <a:p>
            <a:pPr algn="ctr"/>
            <a:r>
              <a:rPr lang="en-US" sz="2200" i="1" dirty="0">
                <a:solidFill>
                  <a:srgbClr val="FF69B4"/>
                </a:solidFill>
                <a:latin typeface="Georgia"/>
              </a:rPr>
              <a:t>"Was it my dream, or was I part of the Red King's dream?"</a:t>
            </a:r>
          </a:p>
        </p:txBody>
      </p:sp>
      <p:sp>
        <p:nvSpPr>
          <p:cNvPr id="111" name="MirrorDeco"/>
          <p:cNvSpPr/>
          <p:nvPr/>
        </p:nvSpPr>
        <p:spPr>
          <a:xfrm>
            <a:off x="4096000" y="2900000"/>
            <a:ext cx="4000000" cy="200000"/>
          </a:xfrm>
          <a:prstGeom prst="rect">
            <a:avLst/>
          </a:prstGeom>
          <a:gradFill>
            <a:gsLst>
              <a:gs pos="0">
                <a:srgbClr val="D4AF37">
                  <a:alpha val="0"/>
                </a:srgbClr>
              </a:gs>
              <a:gs pos="50000">
                <a:srgbClr val="D4AF37">
                  <a:alpha val="40000"/>
                </a:srgbClr>
              </a:gs>
              <a:gs pos="100000">
                <a:srgbClr val="D4AF37">
                  <a:alpha val="0"/>
                </a:srgbClr>
              </a:gs>
            </a:gsLst>
            <a:lin ang="0" scaled="1"/>
          </a:gra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12" name="Insight"/>
          <p:cNvSpPr/>
          <p:nvPr/>
        </p:nvSpPr>
        <p:spPr>
          <a:xfrm>
            <a:off x="1200000" y="3200000"/>
            <a:ext cx="9800000" cy="2600000"/>
          </a:xfrm>
          <a:prstGeom prst="roundRect">
            <a:avLst>
              <a:gd name="adj" fmla="val 5000"/>
            </a:avLst>
          </a:prstGeom>
          <a:solidFill>
            <a:srgbClr val="7B68EE">
              <a:alpha val="10000"/>
            </a:srgbClr>
          </a:solidFill>
          <a:ln w="12700">
            <a:solidFill>
              <a:srgbClr val="7B68EE">
                <a:alpha val="25000"/>
              </a:srgbClr>
            </a:solidFill>
          </a:ln>
        </p:spPr>
        <p:txBody>
          <a:bodyPr lIns="200000" tIns="150000" rIns="200000" bIns="150000" anchor="ctr"/>
          <a:lstStyle/>
          <a:p>
            <a:pPr algn="ctr">
              <a:spcAft>
                <a:spcPts val="600"/>
              </a:spcAft>
            </a:pPr>
            <a:r>
              <a:rPr lang="en-US" sz="1800" dirty="0">
                <a:solidFill>
                  <a:srgbClr val="F0E6D3"/>
                </a:solidFill>
                <a:latin typeface="Segoe UI"/>
              </a:rPr>
              <a:t>When you talk to an LLM, who is really speaking?</a:t>
            </a:r>
          </a:p>
          <a:p>
            <a:pPr algn="ctr">
              <a:spcAft>
                <a:spcPts val="400"/>
              </a:spcAft>
            </a:pPr>
            <a:r>
              <a:rPr lang="en-US" sz="1600" dirty="0">
                <a:solidFill>
                  <a:srgbClr val="E8DCC8"/>
                </a:solidFill>
                <a:latin typeface="Segoe UI"/>
              </a:rPr>
              <a:t>The model trained on humanity's words reflects them back.</a:t>
            </a:r>
          </a:p>
          <a:p>
            <a:pPr algn="ctr">
              <a:spcAft>
                <a:spcPts val="400"/>
              </a:spcAft>
            </a:pPr>
            <a:r>
              <a:rPr lang="en-US" sz="1600" dirty="0">
                <a:solidFill>
                  <a:srgbClr val="E8DCC8"/>
                </a:solidFill>
                <a:latin typeface="Segoe UI"/>
              </a:rPr>
              <a:t>You see intelligence because you project your own into it.</a:t>
            </a:r>
          </a:p>
          <a:p>
            <a:pPr algn="ctr"/>
            <a:r>
              <a:rPr lang="en-US" sz="1800" b="1" dirty="0">
                <a:solidFill>
                  <a:srgbClr val="20B2AA"/>
                </a:solidFill>
                <a:latin typeface="Georgia"/>
              </a:rPr>
              <a:t>The rabbit hole was inside you all along.</a:t>
            </a:r>
          </a:p>
        </p:txBody>
      </p:sp>
      <p:sp>
        <p:nvSpPr>
          <p:cNvPr id="113" name="Star1"/>
          <p:cNvSpPr/>
          <p:nvPr/>
        </p:nvSpPr>
        <p:spPr>
          <a:xfrm>
            <a:off x="900000" y="500000"/>
            <a:ext cx="200000" cy="200000"/>
          </a:xfrm>
          <a:prstGeom prst="star4">
            <a:avLst/>
          </a:prstGeom>
          <a:solidFill>
            <a:srgbClr val="D4AF37">
              <a:alpha val="25000"/>
            </a:srgbClr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14" name="Star2"/>
          <p:cNvSpPr/>
          <p:nvPr/>
        </p:nvSpPr>
        <p:spPr>
          <a:xfrm>
            <a:off x="11000000" y="3000000"/>
            <a:ext cx="150000" cy="150000"/>
          </a:xfrm>
          <a:prstGeom prst="star4">
            <a:avLst/>
          </a:prstGeom>
          <a:solidFill>
            <a:srgbClr val="7B68EE">
              <a:alpha val="30000"/>
            </a:srgbClr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115" name="Graphic 115" descr="Storytelling - the paradox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78500" y="5397500"/>
            <a:ext cx="6985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155292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Looking Glass">
      <a:dk1>
        <a:srgbClr val="F0E6D3"/>
      </a:dk1>
      <a:lt1>
        <a:srgbClr val="1A0A2E"/>
      </a:lt1>
      <a:dk2>
        <a:srgbClr val="D4AF37"/>
      </a:dk2>
      <a:lt2>
        <a:srgbClr val="2D1B4E"/>
      </a:lt2>
      <a:accent1>
        <a:srgbClr val="7B68EE"/>
      </a:accent1>
      <a:accent2>
        <a:srgbClr val="20B2AA"/>
      </a:accent2>
      <a:accent3>
        <a:srgbClr val="D4AF37"/>
      </a:accent3>
      <a:accent4>
        <a:srgbClr val="FF69B4"/>
      </a:accent4>
      <a:accent5>
        <a:srgbClr val="4169E1"/>
      </a:accent5>
      <a:accent6>
        <a:srgbClr val="9370DB"/>
      </a:accent6>
      <a:hlink>
        <a:srgbClr val="467886"/>
      </a:hlink>
      <a:folHlink>
        <a:srgbClr val="96607D"/>
      </a:folHlink>
    </a:clrScheme>
    <a:fontScheme name="Looking Glass">
      <a:majorFont>
        <a:latin typeface="Georgia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5122EEA-F57F-475B-A2B0-21E3A809C55C}">
  <we:reference id="WA200010001" version="1.0.0.0" store="Omex" storeType="OMEX"/>
  <we:alternateReferences>
    <we:reference id="WA200010001" version="1.0.0.0" store="WA200010001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5338</TotalTime>
  <Words>480</Words>
  <Application>Microsoft Office PowerPoint</Application>
  <PresentationFormat>מסך רחב</PresentationFormat>
  <Paragraphs>66</Paragraphs>
  <Slides>6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6</vt:i4>
      </vt:variant>
    </vt:vector>
  </HeadingPairs>
  <TitlesOfParts>
    <vt:vector size="10" baseType="lpstr">
      <vt:lpstr>Arial</vt:lpstr>
      <vt:lpstr>Georgia</vt:lpstr>
      <vt:lpstr>Segoe UI</vt:lpstr>
      <vt:lpstr>ערכת נושא Office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Yael Alef</dc:creator>
  <cp:lastModifiedBy>Yael Alef</cp:lastModifiedBy>
  <cp:revision>1</cp:revision>
  <dcterms:created xsi:type="dcterms:W3CDTF">2026-03-15T15:47:45Z</dcterms:created>
  <dcterms:modified xsi:type="dcterms:W3CDTF">2026-03-19T08:45:48Z</dcterms:modified>
</cp:coreProperties>
</file>